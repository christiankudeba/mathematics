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00">
                <a:solidFill>
                  <a:srgbClr val="00E5FF"/>
                </a:solidFill>
                <a:latin typeface="Consolas"/>
              </a:rPr>
              <a:t>// 00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100">
                <a:solidFill>
                  <a:srgbClr val="8A95A5"/>
                </a:solidFill>
                <a:latin typeface="Consolas"/>
              </a:rPr>
              <a:t>01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00800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200">
                <a:solidFill>
                  <a:srgbClr val="8A95A5"/>
                </a:solidFill>
                <a:latin typeface="Consolas"/>
              </a:rPr>
              <a:t>MATHAI · CONFIDENTIAL DRAFT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100">
                <a:solidFill>
                  <a:srgbClr val="8A95A5"/>
                </a:solidFill>
                <a:latin typeface="Consolas"/>
              </a:rPr>
              <a:t>// vision deck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548640"/>
            <a:ext cx="6350" cy="5852160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0" y="548640"/>
            <a:ext cx="6350" cy="5852160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548640"/>
            <a:ext cx="6350" cy="5852160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548640"/>
            <a:ext cx="6350" cy="5852160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0" y="548640"/>
            <a:ext cx="6350" cy="5852160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548640"/>
            <a:ext cx="6350" cy="5852160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548640"/>
            <a:ext cx="6350" cy="5852160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548640"/>
            <a:ext cx="6350" cy="5852160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78240" y="548640"/>
            <a:ext cx="6350" cy="5852160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92640" y="548640"/>
            <a:ext cx="6350" cy="5852160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07040" y="548640"/>
            <a:ext cx="6350" cy="5852160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468880"/>
            <a:ext cx="76200" cy="219456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331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spc="600">
                <a:solidFill>
                  <a:srgbClr val="00E5FF"/>
                </a:solidFill>
                <a:latin typeface="Consolas"/>
              </a:rPr>
              <a:t>MATHAI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6974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E6EAEF"/>
                </a:solidFill>
                <a:latin typeface="Segoe UI"/>
              </a:rPr>
              <a:t>A living map of</a:t>
            </a:r>
          </a:p>
          <a:p>
            <a:pPr algn="l"/>
            <a:r>
              <a:rPr sz="7200" b="1">
                <a:solidFill>
                  <a:srgbClr val="E6EAEF"/>
                </a:solidFill>
                <a:latin typeface="Segoe UI"/>
              </a:rPr>
              <a:t>mathematics.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6177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8A95A5"/>
                </a:solidFill>
                <a:latin typeface="Segoe UI"/>
              </a:rPr>
              <a:t>Autonomous research agents for the people who actually do the math.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23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200">
                <a:solidFill>
                  <a:srgbClr val="FFB347"/>
                </a:solidFill>
                <a:latin typeface="Consolas"/>
              </a:rPr>
              <a:t>Anton Shakov  ·  Christian Kudeba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00">
                <a:solidFill>
                  <a:srgbClr val="00E5FF"/>
                </a:solidFill>
                <a:latin typeface="Consolas"/>
              </a:rPr>
              <a:t>// 01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100">
                <a:solidFill>
                  <a:srgbClr val="8A95A5"/>
                </a:solidFill>
                <a:latin typeface="Consolas"/>
              </a:rPr>
              <a:t>02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00800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200">
                <a:solidFill>
                  <a:srgbClr val="8A95A5"/>
                </a:solidFill>
                <a:latin typeface="Consolas"/>
              </a:rPr>
              <a:t>MATHAI · CONFIDENTIAL DRAFT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100">
                <a:solidFill>
                  <a:srgbClr val="8A95A5"/>
                </a:solidFill>
                <a:latin typeface="Consolas"/>
              </a:rPr>
              <a:t>// vision deck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822960"/>
            <a:ext cx="38100" cy="29260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804672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00E5FF"/>
                </a:solidFill>
                <a:latin typeface="Consolas"/>
              </a:rPr>
              <a:t>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6EAEF"/>
                </a:solidFill>
                <a:latin typeface="Segoe UI"/>
              </a:rPr>
              <a:t>What we are building.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31720"/>
            <a:ext cx="352044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96312"/>
            <a:ext cx="3520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200">
                <a:solidFill>
                  <a:srgbClr val="00E5FF"/>
                </a:solidFill>
                <a:latin typeface="Consola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3464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FFB347"/>
                </a:solidFill>
                <a:latin typeface="Consolas"/>
              </a:rPr>
              <a:t>THE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352044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EAEF"/>
                </a:solidFill>
                <a:latin typeface="Segoe UI"/>
              </a:rPr>
              <a:t>For four centuries, mathematics has been done by hand — one mind, one notebook, one proof at a time. We change the unit of work. Each researcher shapes a persistent AI agent that thinks the way they think, points at the problems they care about, and runs for hours, days, weeks. Their agent. Their name on what it finds.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331720"/>
            <a:ext cx="352044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496312"/>
            <a:ext cx="3520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200">
                <a:solidFill>
                  <a:srgbClr val="00E5FF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83464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FFB347"/>
                </a:solidFill>
                <a:latin typeface="Consolas"/>
              </a:rPr>
              <a:t>THE ARTIFACT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291840"/>
            <a:ext cx="352044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EAEF"/>
                </a:solidFill>
                <a:latin typeface="Segoe UI"/>
              </a:rPr>
              <a:t>Every result that survives verification — every theorem, counterexample, conjecture-with-evidence — flows into a single growing public artifact: a mechanically-checked, attribution-preserving map of mathematics. Free to read. Owned by no one. Stewarded by the field itself.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2331720"/>
            <a:ext cx="352044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2496312"/>
            <a:ext cx="3520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200">
                <a:solidFill>
                  <a:srgbClr val="00E5FF"/>
                </a:solidFill>
                <a:latin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83464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FFB347"/>
                </a:solidFill>
                <a:latin typeface="Consolas"/>
              </a:rPr>
              <a:t>THE MOMENT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291840"/>
            <a:ext cx="352044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EAEF"/>
                </a:solidFill>
                <a:latin typeface="Segoe UI"/>
              </a:rPr>
              <a:t>The conditions only just arrived. Frontier models reason at graduate level when steered well. Verification has become tractable at scale. The cost of letting an agent think for a week has collapsed. And the field's most respected names have, for the first time, said the quiet part out loud: this is ready.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00">
                <a:solidFill>
                  <a:srgbClr val="00E5FF"/>
                </a:solidFill>
                <a:latin typeface="Consolas"/>
              </a:rPr>
              <a:t>// 02 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100">
                <a:solidFill>
                  <a:srgbClr val="8A95A5"/>
                </a:solidFill>
                <a:latin typeface="Consolas"/>
              </a:rPr>
              <a:t>03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00800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200">
                <a:solidFill>
                  <a:srgbClr val="8A95A5"/>
                </a:solidFill>
                <a:latin typeface="Consolas"/>
              </a:rPr>
              <a:t>MATHAI · CONFIDENTIAL DRAFT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100">
                <a:solidFill>
                  <a:srgbClr val="8A95A5"/>
                </a:solidFill>
                <a:latin typeface="Consolas"/>
              </a:rPr>
              <a:t>// vision deck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822960"/>
            <a:ext cx="38100" cy="29260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804672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00E5FF"/>
                </a:solidFill>
                <a:latin typeface="Consolas"/>
              </a:rPr>
              <a:t>WHY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6EAEF"/>
                </a:solidFill>
                <a:latin typeface="Segoe UI"/>
              </a:rPr>
              <a:t>Four conditions converged.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23160"/>
            <a:ext cx="5440680" cy="1828800"/>
          </a:xfrm>
          <a:prstGeom prst="rect">
            <a:avLst/>
          </a:prstGeom>
          <a:solidFill>
            <a:srgbClr val="12171F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517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200">
                <a:solidFill>
                  <a:srgbClr val="00E5FF"/>
                </a:solidFill>
                <a:latin typeface="Consola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26080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spc="100">
                <a:solidFill>
                  <a:srgbClr val="E6EAEF"/>
                </a:solidFill>
                <a:latin typeface="Segoe UI"/>
              </a:rPr>
              <a:t>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83280"/>
            <a:ext cx="4800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95A5"/>
                </a:solidFill>
                <a:latin typeface="Segoe UI"/>
              </a:rPr>
              <a:t>Frontier models reach graduate-research level when steered with care.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2423160"/>
            <a:ext cx="5440680" cy="1828800"/>
          </a:xfrm>
          <a:prstGeom prst="rect">
            <a:avLst/>
          </a:prstGeom>
          <a:solidFill>
            <a:srgbClr val="12171F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26517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200">
                <a:solidFill>
                  <a:srgbClr val="00E5FF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926080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spc="100">
                <a:solidFill>
                  <a:srgbClr val="E6EAEF"/>
                </a:solidFill>
                <a:latin typeface="Segoe UI"/>
              </a:rPr>
              <a:t>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383280"/>
            <a:ext cx="4800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95A5"/>
                </a:solidFill>
                <a:latin typeface="Segoe UI"/>
              </a:rPr>
              <a:t>Mechanical proof-checking finally scales. The community trusts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62272"/>
            <a:ext cx="5440680" cy="1828800"/>
          </a:xfrm>
          <a:prstGeom prst="rect">
            <a:avLst/>
          </a:prstGeom>
          <a:solidFill>
            <a:srgbClr val="12171F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6908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200">
                <a:solidFill>
                  <a:srgbClr val="00E5FF"/>
                </a:solidFill>
                <a:latin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965192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spc="100">
                <a:solidFill>
                  <a:srgbClr val="E6EAEF"/>
                </a:solidFill>
                <a:latin typeface="Segoe UI"/>
              </a:rPr>
              <a:t>ECONOMICS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422392"/>
            <a:ext cx="4800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95A5"/>
                </a:solidFill>
                <a:latin typeface="Segoe UI"/>
              </a:rPr>
              <a:t>Caching and tiered routing collapsed the cost of letting an agent think.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4462272"/>
            <a:ext cx="5440680" cy="1828800"/>
          </a:xfrm>
          <a:prstGeom prst="rect">
            <a:avLst/>
          </a:prstGeom>
          <a:solidFill>
            <a:srgbClr val="12171F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46908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200">
                <a:solidFill>
                  <a:srgbClr val="00E5FF"/>
                </a:solidFill>
                <a:latin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4965192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spc="100">
                <a:solidFill>
                  <a:srgbClr val="E6EAEF"/>
                </a:solidFill>
                <a:latin typeface="Segoe UI"/>
              </a:rPr>
              <a:t>PERMISSION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5422392"/>
            <a:ext cx="4800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95A5"/>
                </a:solidFill>
                <a:latin typeface="Segoe UI"/>
              </a:rPr>
              <a:t>The field's most respected voices have endorsed the moment publicly.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00">
                <a:solidFill>
                  <a:srgbClr val="00E5FF"/>
                </a:solidFill>
                <a:latin typeface="Consolas"/>
              </a:rPr>
              <a:t>// 03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100">
                <a:solidFill>
                  <a:srgbClr val="8A95A5"/>
                </a:solidFill>
                <a:latin typeface="Consolas"/>
              </a:rPr>
              <a:t>04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00800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200">
                <a:solidFill>
                  <a:srgbClr val="8A95A5"/>
                </a:solidFill>
                <a:latin typeface="Consolas"/>
              </a:rPr>
              <a:t>MATHAI · CONFIDENTIAL DRAFT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100">
                <a:solidFill>
                  <a:srgbClr val="8A95A5"/>
                </a:solidFill>
                <a:latin typeface="Consolas"/>
              </a:rPr>
              <a:t>// vision deck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822960"/>
            <a:ext cx="38100" cy="29260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804672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00E5FF"/>
                </a:solidFill>
                <a:latin typeface="Consolas"/>
              </a:rPr>
              <a:t>THE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6EAEF"/>
                </a:solidFill>
                <a:latin typeface="Segoe UI"/>
              </a:rPr>
              <a:t>AI can do graduate-level math.</a:t>
            </a:r>
          </a:p>
          <a:p>
            <a:pPr algn="l"/>
            <a:r>
              <a:rPr sz="4000" b="1">
                <a:solidFill>
                  <a:srgbClr val="E6EAEF"/>
                </a:solidFill>
                <a:latin typeface="Segoe UI"/>
              </a:rPr>
              <a:t>The field doesn't trust it yet.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11091672" cy="2286000"/>
          </a:xfrm>
          <a:prstGeom prst="rect">
            <a:avLst/>
          </a:prstGeom>
          <a:solidFill>
            <a:srgbClr val="12171F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86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FFB347"/>
                </a:solidFill>
                <a:latin typeface="Consolas"/>
              </a:rPr>
              <a:t>// 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6EAEF"/>
                </a:solidFill>
                <a:latin typeface="Segoe UI"/>
              </a:rPr>
              <a:t>Mathematicians are a market that pays dearly for instruments they trust</a:t>
            </a:r>
          </a:p>
          <a:p>
            <a:pPr algn="l"/>
            <a:r>
              <a:rPr sz="2200" b="0">
                <a:solidFill>
                  <a:srgbClr val="E6EAEF"/>
                </a:solidFill>
                <a:latin typeface="Segoe UI"/>
              </a:rPr>
              <a:t>and ignores everything else. Trust is the entire game.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spc="200">
                <a:solidFill>
                  <a:srgbClr val="00E5FF"/>
                </a:solidFill>
                <a:latin typeface="Consolas"/>
              </a:rPr>
              <a:t>Hallucination · No persistence · No verification · No attribution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00">
                <a:solidFill>
                  <a:srgbClr val="00E5FF"/>
                </a:solidFill>
                <a:latin typeface="Consolas"/>
              </a:rPr>
              <a:t>// 04 WHITE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100">
                <a:solidFill>
                  <a:srgbClr val="8A95A5"/>
                </a:solidFill>
                <a:latin typeface="Consolas"/>
              </a:rPr>
              <a:t>05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00800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200">
                <a:solidFill>
                  <a:srgbClr val="8A95A5"/>
                </a:solidFill>
                <a:latin typeface="Consolas"/>
              </a:rPr>
              <a:t>MATHAI · CONFIDENTIAL DRAFT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100">
                <a:solidFill>
                  <a:srgbClr val="8A95A5"/>
                </a:solidFill>
                <a:latin typeface="Consolas"/>
              </a:rPr>
              <a:t>// vision deck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822960"/>
            <a:ext cx="38100" cy="29260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804672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00E5FF"/>
                </a:solidFill>
                <a:latin typeface="Consolas"/>
              </a:rPr>
              <a:t>THE WHITE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6EAEF"/>
                </a:solidFill>
                <a:latin typeface="Segoe UI"/>
              </a:rPr>
              <a:t>Three crowded categories. One missing 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77440"/>
            <a:ext cx="3611880" cy="1325880"/>
          </a:xfrm>
          <a:prstGeom prst="rect">
            <a:avLst/>
          </a:prstGeom>
          <a:solidFill>
            <a:srgbClr val="12171F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7860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8A95A5"/>
                </a:solidFill>
                <a:latin typeface="Consolas"/>
              </a:rPr>
              <a:t>OLYMPIAD PROVERS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44368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AEF"/>
                </a:solidFill>
                <a:latin typeface="Segoe UI"/>
              </a:rPr>
              <a:t>Race to win benchmarks. Narrow. Well-funded. Not a workflow.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0832" y="2377440"/>
            <a:ext cx="3611880" cy="1325880"/>
          </a:xfrm>
          <a:prstGeom prst="rect">
            <a:avLst/>
          </a:prstGeom>
          <a:solidFill>
            <a:srgbClr val="12171F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57860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8A95A5"/>
                </a:solidFill>
                <a:latin typeface="Consolas"/>
              </a:rPr>
              <a:t>AI CODING HARNESSES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944368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AEF"/>
                </a:solidFill>
                <a:latin typeface="Segoe UI"/>
              </a:rPr>
              <a:t>Powerful general tools. Built for engineers, not researchers.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3024" y="2377440"/>
            <a:ext cx="3611880" cy="1325880"/>
          </a:xfrm>
          <a:prstGeom prst="rect">
            <a:avLst/>
          </a:prstGeom>
          <a:solidFill>
            <a:srgbClr val="12171F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257860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8A95A5"/>
                </a:solidFill>
                <a:latin typeface="Consolas"/>
              </a:rPr>
              <a:t>NON-PROFIT SCIENCE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2944368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AEF"/>
                </a:solidFill>
                <a:latin typeface="Segoe UI"/>
              </a:rPr>
              <a:t>Right shape, adjacent science. Donation-funded. Free.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69080"/>
            <a:ext cx="11091672" cy="2194560"/>
          </a:xfrm>
          <a:prstGeom prst="rect">
            <a:avLst/>
          </a:prstGeom>
          <a:solidFill>
            <a:srgbClr val="0B0E12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069080"/>
            <a:ext cx="76200" cy="219456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297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00E5FF"/>
                </a:solidFill>
                <a:latin typeface="Consolas"/>
              </a:rPr>
              <a:t>// OUR 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634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E6EAEF"/>
                </a:solidFill>
                <a:latin typeface="Segoe UI"/>
              </a:rPr>
              <a:t>Verifier-pluggable autonomous research agents</a:t>
            </a:r>
          </a:p>
          <a:p>
            <a:pPr algn="l"/>
            <a:r>
              <a:rPr sz="2400" b="1">
                <a:solidFill>
                  <a:srgbClr val="E6EAEF"/>
                </a:solidFill>
                <a:latin typeface="Segoe UI"/>
              </a:rPr>
              <a:t>producing a permanent, public, attributed record of mathematics.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852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spc="100">
                <a:solidFill>
                  <a:srgbClr val="FFB347"/>
                </a:solidFill>
                <a:latin typeface="Consolas"/>
              </a:rPr>
              <a:t>No funded for-profit owns this position. We are first.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00">
                <a:solidFill>
                  <a:srgbClr val="00E5FF"/>
                </a:solidFill>
                <a:latin typeface="Consolas"/>
              </a:rPr>
              <a:t>// 05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100">
                <a:solidFill>
                  <a:srgbClr val="8A95A5"/>
                </a:solidFill>
                <a:latin typeface="Consolas"/>
              </a:rPr>
              <a:t>06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00800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200">
                <a:solidFill>
                  <a:srgbClr val="8A95A5"/>
                </a:solidFill>
                <a:latin typeface="Consolas"/>
              </a:rPr>
              <a:t>MATHAI · CONFIDENTIAL DRAFT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100">
                <a:solidFill>
                  <a:srgbClr val="8A95A5"/>
                </a:solidFill>
                <a:latin typeface="Consolas"/>
              </a:rPr>
              <a:t>// vision deck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822960"/>
            <a:ext cx="38100" cy="29260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804672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00E5FF"/>
                </a:solidFill>
                <a:latin typeface="Consolas"/>
              </a:rP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6EAEF"/>
                </a:solidFill>
                <a:latin typeface="Segoe UI"/>
              </a:rPr>
              <a:t>Three primitives. One platform.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23160"/>
            <a:ext cx="3611880" cy="3657600"/>
          </a:xfrm>
          <a:prstGeom prst="rect">
            <a:avLst/>
          </a:prstGeom>
          <a:solidFill>
            <a:srgbClr val="12171F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3611880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7889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200">
                <a:solidFill>
                  <a:srgbClr val="00E5FF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10896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spc="100">
                <a:solidFill>
                  <a:srgbClr val="E6EAEF"/>
                </a:solidFill>
                <a:latin typeface="Segoe UI"/>
              </a:rPr>
              <a:t>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490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Segoe UI"/>
              </a:rPr>
              <a:t>Custom autonomous reasoners.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51960"/>
            <a:ext cx="3063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AEF"/>
                </a:solidFill>
                <a:latin typeface="Segoe UI"/>
              </a:rPr>
              <a:t>Each researcher composes prompts, models, tools, and verifiers into a bespoke agent that thinks on long horizons about the problems they own.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0832" y="2423160"/>
            <a:ext cx="3611880" cy="3657600"/>
          </a:xfrm>
          <a:prstGeom prst="rect">
            <a:avLst/>
          </a:prstGeom>
          <a:solidFill>
            <a:srgbClr val="12171F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0832" y="2423160"/>
            <a:ext cx="3611880" cy="73152"/>
          </a:xfrm>
          <a:prstGeom prst="rect">
            <a:avLst/>
          </a:prstGeom>
          <a:solidFill>
            <a:srgbClr val="7CE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27889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200">
                <a:solidFill>
                  <a:srgbClr val="7CE3A8"/>
                </a:solidFill>
                <a:latin typeface="Consola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310896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spc="100">
                <a:solidFill>
                  <a:srgbClr val="E6EAEF"/>
                </a:solidFill>
                <a:latin typeface="Segoe UI"/>
              </a:rPr>
              <a:t>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37490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7CE3A8"/>
                </a:solidFill>
                <a:latin typeface="Segoe UI"/>
              </a:rPr>
              <a:t>Mechanical proof-checking.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4251960"/>
            <a:ext cx="3063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AEF"/>
                </a:solidFill>
                <a:latin typeface="Segoe UI"/>
              </a:rPr>
              <a:t>What can be checked, is. Lean-grade verification on every public claim. Human review for what falls outside. Trust earned the way the field grants 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93024" y="2423160"/>
            <a:ext cx="3611880" cy="3657600"/>
          </a:xfrm>
          <a:prstGeom prst="rect">
            <a:avLst/>
          </a:prstGeom>
          <a:solidFill>
            <a:srgbClr val="12171F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93024" y="2423160"/>
            <a:ext cx="3611880" cy="73152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67344" y="27889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200">
                <a:solidFill>
                  <a:srgbClr val="FFB347"/>
                </a:solidFill>
                <a:latin typeface="Consola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7344" y="310896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spc="100">
                <a:solidFill>
                  <a:srgbClr val="E6EAEF"/>
                </a:solidFill>
                <a:latin typeface="Segoe UI"/>
              </a:rPr>
              <a:t>THE GRAPH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7344" y="37490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B347"/>
                </a:solidFill>
                <a:latin typeface="Segoe UI"/>
              </a:rPr>
              <a:t>A living public artifact.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7344" y="4251960"/>
            <a:ext cx="3063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AEF"/>
                </a:solidFill>
                <a:latin typeface="Segoe UI"/>
              </a:rPr>
              <a:t>Every verified result becomes a node. Edges are dependencies, generalizations, refutations. Free to read. Owned by no one. Citable to its maker.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00">
                <a:solidFill>
                  <a:srgbClr val="00E5FF"/>
                </a:solidFill>
                <a:latin typeface="Consolas"/>
              </a:rPr>
              <a:t>// 06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100">
                <a:solidFill>
                  <a:srgbClr val="8A95A5"/>
                </a:solidFill>
                <a:latin typeface="Consolas"/>
              </a:rPr>
              <a:t>07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00800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200">
                <a:solidFill>
                  <a:srgbClr val="8A95A5"/>
                </a:solidFill>
                <a:latin typeface="Consolas"/>
              </a:rPr>
              <a:t>MATHAI · CONFIDENTIAL DRAFT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100">
                <a:solidFill>
                  <a:srgbClr val="8A95A5"/>
                </a:solidFill>
                <a:latin typeface="Consolas"/>
              </a:rPr>
              <a:t>// vision deck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822960"/>
            <a:ext cx="38100" cy="29260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804672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00E5FF"/>
                </a:solidFill>
                <a:latin typeface="Consolas"/>
              </a:rPr>
              <a:t>THE ARTIFACT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6EAEF"/>
                </a:solidFill>
                <a:latin typeface="Segoe UI"/>
              </a:rPr>
              <a:t>A growing, verified record.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00E5FF"/>
                </a:solidFill>
                <a:latin typeface="Consolas"/>
              </a:rPr>
              <a:t>// PROPERTIES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FFB347"/>
                </a:solidFill>
                <a:latin typeface="Consolas"/>
              </a:rPr>
              <a:t>FREE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7889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EAEF"/>
                </a:solidFill>
                <a:latin typeface="Segoe UI"/>
              </a:rPr>
              <a:t>to read for anyone in the world.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FFB347"/>
                </a:solidFill>
                <a:latin typeface="Consolas"/>
              </a:rPr>
              <a:t>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29184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EAEF"/>
                </a:solidFill>
                <a:latin typeface="Segoe UI"/>
              </a:rPr>
              <a:t>where machines can verify; reviewed where they can't.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947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FFB347"/>
                </a:solidFill>
                <a:latin typeface="Consolas"/>
              </a:rPr>
              <a:t>ATTRIBUTED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7947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EAEF"/>
                </a:solidFill>
                <a:latin typeface="Segoe UI"/>
              </a:rPr>
              <a:t>to the researcher whose agent produced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976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FFB347"/>
                </a:solidFill>
                <a:latin typeface="Consolas"/>
              </a:rPr>
              <a:t>PERMANENT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29768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EAEF"/>
                </a:solidFill>
                <a:latin typeface="Segoe UI"/>
              </a:rPr>
              <a:t>no walled garden, no platform lock-in.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006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FFB347"/>
                </a:solidFill>
                <a:latin typeface="Consolas"/>
              </a:rPr>
              <a:t>LIVING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8006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EAEF"/>
                </a:solidFill>
                <a:latin typeface="Segoe UI"/>
              </a:rPr>
              <a:t>every accepted result expands the graph.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2286000"/>
            <a:ext cx="4846320" cy="3657600"/>
          </a:xfrm>
          <a:prstGeom prst="rect">
            <a:avLst/>
          </a:prstGeom>
          <a:solidFill>
            <a:srgbClr val="12171F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680960" y="2834640"/>
            <a:ext cx="1463040" cy="548640"/>
          </a:xfrm>
          <a:prstGeom prst="line">
            <a:avLst/>
          </a:prstGeom>
          <a:ln w="9525">
            <a:solidFill>
              <a:srgbClr val="2A3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144000" y="2926080"/>
            <a:ext cx="1463040" cy="457200"/>
          </a:xfrm>
          <a:prstGeom prst="line">
            <a:avLst/>
          </a:prstGeom>
          <a:ln w="9525">
            <a:solidFill>
              <a:srgbClr val="2A3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80960" y="2834640"/>
            <a:ext cx="457200" cy="1645920"/>
          </a:xfrm>
          <a:prstGeom prst="line">
            <a:avLst/>
          </a:prstGeom>
          <a:ln w="9525">
            <a:solidFill>
              <a:srgbClr val="2A3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144000" y="3383280"/>
            <a:ext cx="640080" cy="1280160"/>
          </a:xfrm>
          <a:prstGeom prst="line">
            <a:avLst/>
          </a:prstGeom>
          <a:ln w="9525">
            <a:solidFill>
              <a:srgbClr val="2A3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07040" y="2926080"/>
            <a:ext cx="365760" cy="1188720"/>
          </a:xfrm>
          <a:prstGeom prst="line">
            <a:avLst/>
          </a:prstGeom>
          <a:ln w="9525">
            <a:solidFill>
              <a:srgbClr val="2A3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138160" y="4480560"/>
            <a:ext cx="1645920" cy="182880"/>
          </a:xfrm>
          <a:prstGeom prst="line">
            <a:avLst/>
          </a:prstGeom>
          <a:ln w="9525">
            <a:solidFill>
              <a:srgbClr val="2A3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784080" y="4114800"/>
            <a:ext cx="1188720" cy="548640"/>
          </a:xfrm>
          <a:prstGeom prst="line">
            <a:avLst/>
          </a:prstGeom>
          <a:ln w="9525">
            <a:solidFill>
              <a:srgbClr val="2A3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38160" y="4480560"/>
            <a:ext cx="640080" cy="914400"/>
          </a:xfrm>
          <a:prstGeom prst="line">
            <a:avLst/>
          </a:prstGeom>
          <a:ln w="9525">
            <a:solidFill>
              <a:srgbClr val="2A3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784080" y="4663440"/>
            <a:ext cx="548640" cy="822960"/>
          </a:xfrm>
          <a:prstGeom prst="line">
            <a:avLst/>
          </a:prstGeom>
          <a:ln w="9525">
            <a:solidFill>
              <a:srgbClr val="2A3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0332720" y="4114800"/>
            <a:ext cx="640080" cy="1371600"/>
          </a:xfrm>
          <a:prstGeom prst="line">
            <a:avLst/>
          </a:prstGeom>
          <a:ln w="9525">
            <a:solidFill>
              <a:srgbClr val="2A3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315200" y="3931920"/>
            <a:ext cx="822960" cy="548640"/>
          </a:xfrm>
          <a:prstGeom prst="line">
            <a:avLst/>
          </a:prstGeom>
          <a:ln w="9525">
            <a:solidFill>
              <a:srgbClr val="2A3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315200" y="2834640"/>
            <a:ext cx="365760" cy="1097280"/>
          </a:xfrm>
          <a:prstGeom prst="line">
            <a:avLst/>
          </a:prstGeom>
          <a:ln w="9525">
            <a:solidFill>
              <a:srgbClr val="2A3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972800" y="4114800"/>
            <a:ext cx="91440" cy="1097280"/>
          </a:xfrm>
          <a:prstGeom prst="line">
            <a:avLst/>
          </a:prstGeom>
          <a:ln w="9525">
            <a:solidFill>
              <a:srgbClr val="2A3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332720" y="5212080"/>
            <a:ext cx="731520" cy="274320"/>
          </a:xfrm>
          <a:prstGeom prst="line">
            <a:avLst/>
          </a:prstGeom>
          <a:ln w="9525">
            <a:solidFill>
              <a:srgbClr val="2A3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7635240" y="2788920"/>
            <a:ext cx="91440" cy="914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B0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098280" y="3337560"/>
            <a:ext cx="91440" cy="914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B0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561320" y="2880360"/>
            <a:ext cx="91440" cy="914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B0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092440" y="4434840"/>
            <a:ext cx="91440" cy="91440"/>
          </a:xfrm>
          <a:prstGeom prst="ellipse">
            <a:avLst/>
          </a:prstGeom>
          <a:solidFill>
            <a:srgbClr val="7CE3A8"/>
          </a:solidFill>
          <a:ln w="12700">
            <a:solidFill>
              <a:srgbClr val="0B0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738360" y="4617720"/>
            <a:ext cx="91440" cy="91440"/>
          </a:xfrm>
          <a:prstGeom prst="ellipse">
            <a:avLst/>
          </a:prstGeom>
          <a:solidFill>
            <a:srgbClr val="7CE3A8"/>
          </a:solidFill>
          <a:ln w="12700">
            <a:solidFill>
              <a:srgbClr val="0B0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927080" y="4069080"/>
            <a:ext cx="91440" cy="91440"/>
          </a:xfrm>
          <a:prstGeom prst="ellipse">
            <a:avLst/>
          </a:prstGeom>
          <a:solidFill>
            <a:srgbClr val="7CE3A8"/>
          </a:solidFill>
          <a:ln w="12700">
            <a:solidFill>
              <a:srgbClr val="0B0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732520" y="5349240"/>
            <a:ext cx="91440" cy="9144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0B0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87000" y="5440680"/>
            <a:ext cx="91440" cy="9144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0B0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269480" y="3886200"/>
            <a:ext cx="91440" cy="914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B0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018520" y="5166360"/>
            <a:ext cx="91440" cy="91440"/>
          </a:xfrm>
          <a:prstGeom prst="ellipse">
            <a:avLst/>
          </a:prstGeom>
          <a:solidFill>
            <a:srgbClr val="7CE3A8"/>
          </a:solidFill>
          <a:ln w="12700">
            <a:solidFill>
              <a:srgbClr val="0B0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995160" y="5532120"/>
            <a:ext cx="76200" cy="76200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59752" y="54864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8A95A5"/>
                </a:solidFill>
                <a:latin typeface="Consolas"/>
              </a:rPr>
              <a:t>axiom / lemma</a:t>
            </a:r>
          </a:p>
        </p:txBody>
      </p:sp>
      <p:sp>
        <p:nvSpPr>
          <p:cNvPr id="50" name="Oval 49"/>
          <p:cNvSpPr/>
          <p:nvPr/>
        </p:nvSpPr>
        <p:spPr>
          <a:xfrm>
            <a:off x="8549640" y="5532120"/>
            <a:ext cx="76200" cy="76200"/>
          </a:xfrm>
          <a:prstGeom prst="ellipse">
            <a:avLst/>
          </a:prstGeom>
          <a:solidFill>
            <a:srgbClr val="7CE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14232" y="54864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8A95A5"/>
                </a:solidFill>
                <a:latin typeface="Consolas"/>
              </a:rPr>
              <a:t>verified theorem</a:t>
            </a:r>
          </a:p>
        </p:txBody>
      </p:sp>
      <p:sp>
        <p:nvSpPr>
          <p:cNvPr id="52" name="Oval 51"/>
          <p:cNvSpPr/>
          <p:nvPr/>
        </p:nvSpPr>
        <p:spPr>
          <a:xfrm>
            <a:off x="10195560" y="5532120"/>
            <a:ext cx="76200" cy="76200"/>
          </a:xfrm>
          <a:prstGeom prst="ellipse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60152" y="54864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8A95A5"/>
                </a:solidFill>
                <a:latin typeface="Consolas"/>
              </a:rPr>
              <a:t>conjecture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00">
                <a:solidFill>
                  <a:srgbClr val="00E5FF"/>
                </a:solidFill>
                <a:latin typeface="Consolas"/>
              </a:rPr>
              <a:t>// 07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100">
                <a:solidFill>
                  <a:srgbClr val="8A95A5"/>
                </a:solidFill>
                <a:latin typeface="Consolas"/>
              </a:rPr>
              <a:t>08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00800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200">
                <a:solidFill>
                  <a:srgbClr val="8A95A5"/>
                </a:solidFill>
                <a:latin typeface="Consolas"/>
              </a:rPr>
              <a:t>MATHAI · CONFIDENTIAL DRAFT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100">
                <a:solidFill>
                  <a:srgbClr val="8A95A5"/>
                </a:solidFill>
                <a:latin typeface="Consolas"/>
              </a:rPr>
              <a:t>// vision deck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822960"/>
            <a:ext cx="38100" cy="29260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804672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00E5FF"/>
                </a:solidFill>
                <a:latin typeface="Consolas"/>
              </a:rPr>
              <a:t>THE FORUM MATH LOST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6EAEF"/>
                </a:solidFill>
                <a:latin typeface="Segoe UI"/>
              </a:rPr>
              <a:t>Rebuild the square AI emptied.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8A95A5"/>
                </a:solidFill>
                <a:latin typeface="Consolas"/>
              </a:rPr>
              <a:t>// THE VOID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54864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EAEF"/>
                </a:solidFill>
                <a:latin typeface="Segoe UI"/>
              </a:rPr>
              <a:t>MathOverflow and Stack Exchange were the public square of working mathematics — where postdocs argued with experts, where a niche subfield's last living authority surfaced, where credit and reputation compounded.</a:t>
            </a:r>
          </a:p>
          <a:p>
            <a:pPr algn="l"/>
            <a:r>
              <a:rPr sz="1400" b="0">
                <a:solidFill>
                  <a:srgbClr val="E6EAEF"/>
                </a:solidFill>
                <a:latin typeface="Segoe UI"/>
              </a:rPr>
              <a:t/>
            </a:r>
          </a:p>
          <a:p>
            <a:pPr algn="l"/>
            <a:r>
              <a:rPr sz="1400" b="0">
                <a:solidFill>
                  <a:srgbClr val="E6EAEF"/>
                </a:solidFill>
                <a:latin typeface="Segoe UI"/>
              </a:rPr>
              <a:t>AI killed the question-and-answer half. The community half was collateral damage. Nothing has replaced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286000"/>
            <a:ext cx="5120640" cy="3657600"/>
          </a:xfrm>
          <a:prstGeom prst="rect">
            <a:avLst/>
          </a:prstGeom>
          <a:solidFill>
            <a:srgbClr val="12171F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468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00E5FF"/>
                </a:solidFill>
                <a:latin typeface="Consolas"/>
              </a:rPr>
              <a:t>// WHAT WE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83464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6EAEF"/>
                </a:solidFill>
                <a:latin typeface="Segoe UI"/>
              </a:rPr>
              <a:t>A community native</a:t>
            </a:r>
          </a:p>
          <a:p>
            <a:pPr algn="l"/>
            <a:r>
              <a:rPr sz="2200" b="1">
                <a:solidFill>
                  <a:srgbClr val="E6EAEF"/>
                </a:solidFill>
                <a:latin typeface="Segoe UI"/>
              </a:rPr>
              <a:t>to the agent era.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9319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FFB347"/>
                </a:solidFill>
                <a:latin typeface="Consolas"/>
              </a:rPr>
              <a:t>THREADS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93192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AEF"/>
                </a:solidFill>
                <a:latin typeface="Segoe UI"/>
              </a:rPr>
              <a:t>Mathematicians discuss what agents produced — and didn't.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3891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FFB347"/>
                </a:solidFill>
                <a:latin typeface="Consolas"/>
              </a:rPr>
              <a:t>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38912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AEF"/>
                </a:solidFill>
                <a:latin typeface="Segoe UI"/>
              </a:rPr>
              <a:t>Share, fork, and remix the agents that did the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846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FFB347"/>
                </a:solidFill>
                <a:latin typeface="Consolas"/>
              </a:rPr>
              <a:t>EXPERTS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84632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AEF"/>
                </a:solidFill>
                <a:latin typeface="Segoe UI"/>
              </a:rPr>
              <a:t>The 80-year-old who holds a niche subfield gets a real role.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303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FFB347"/>
                </a:solidFill>
                <a:latin typeface="Consolas"/>
              </a:rPr>
              <a:t>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530352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AEF"/>
                </a:solidFill>
                <a:latin typeface="Segoe UI"/>
              </a:rPr>
              <a:t>Reputation compounds; attribution is permanent and public.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00">
                <a:solidFill>
                  <a:srgbClr val="00E5FF"/>
                </a:solidFill>
                <a:latin typeface="Consolas"/>
              </a:rPr>
              <a:t>// 08 SOCIAL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100">
                <a:solidFill>
                  <a:srgbClr val="8A95A5"/>
                </a:solidFill>
                <a:latin typeface="Consolas"/>
              </a:rPr>
              <a:t>09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00800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200">
                <a:solidFill>
                  <a:srgbClr val="8A95A5"/>
                </a:solidFill>
                <a:latin typeface="Consolas"/>
              </a:rPr>
              <a:t>MATHAI · CONFIDENTIAL DRAFT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100">
                <a:solidFill>
                  <a:srgbClr val="8A95A5"/>
                </a:solidFill>
                <a:latin typeface="Consolas"/>
              </a:rPr>
              <a:t>// vision deck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822960"/>
            <a:ext cx="38100" cy="29260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804672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00E5FF"/>
                </a:solidFill>
                <a:latin typeface="Consolas"/>
              </a:rPr>
              <a:t>VERIFICATION IS SOCIAL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6EAEF"/>
                </a:solidFill>
                <a:latin typeface="Segoe UI"/>
              </a:rPr>
              <a:t>Machines check. People bless.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A95A5"/>
                </a:solidFill>
                <a:latin typeface="Segoe UI"/>
              </a:rPr>
              <a:t>Trust is layered. Every claim agents produce moves through stacked checkmarks — none of them faked, all of them visible.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46120"/>
            <a:ext cx="2697480" cy="2606040"/>
          </a:xfrm>
          <a:prstGeom prst="rect">
            <a:avLst/>
          </a:prstGeom>
          <a:solidFill>
            <a:srgbClr val="12171F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703320"/>
            <a:ext cx="411480" cy="4114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66744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B0E12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65760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00">
                <a:solidFill>
                  <a:srgbClr val="00E5FF"/>
                </a:solidFill>
                <a:latin typeface="Consolas"/>
              </a:rPr>
              <a:t>MACHINE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959352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6EAEF"/>
                </a:solidFill>
                <a:latin typeface="Segoe UI"/>
              </a:rPr>
              <a:t>Lean-verified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5488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A95A5"/>
                </a:solidFill>
                <a:latin typeface="Segoe UI"/>
              </a:rPr>
              <a:t>Mechanically certain.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2424" y="3246120"/>
            <a:ext cx="2697480" cy="2606040"/>
          </a:xfrm>
          <a:prstGeom prst="rect">
            <a:avLst/>
          </a:prstGeom>
          <a:solidFill>
            <a:srgbClr val="12171F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58184" y="3703320"/>
            <a:ext cx="411480" cy="411480"/>
          </a:xfrm>
          <a:prstGeom prst="rect">
            <a:avLst/>
          </a:prstGeom>
          <a:solidFill>
            <a:srgbClr val="7CE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58184" y="3666744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B0E12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6824" y="365760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00">
                <a:solidFill>
                  <a:srgbClr val="7CE3A8"/>
                </a:solidFill>
                <a:latin typeface="Consolas"/>
              </a:rPr>
              <a:t>EXPERT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6824" y="3959352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6EAEF"/>
                </a:solidFill>
                <a:latin typeface="Segoe UI"/>
              </a:rPr>
              <a:t>Domain-reviewed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66744" y="475488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A95A5"/>
                </a:solidFill>
                <a:latin typeface="Segoe UI"/>
              </a:rPr>
              <a:t>Blessed by an authority on the subfield.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6208" y="3246120"/>
            <a:ext cx="2697480" cy="2606040"/>
          </a:xfrm>
          <a:prstGeom prst="rect">
            <a:avLst/>
          </a:prstGeom>
          <a:solidFill>
            <a:srgbClr val="12171F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01968" y="3703320"/>
            <a:ext cx="411480" cy="411480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3666744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B0E12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8" y="365760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00">
                <a:solidFill>
                  <a:srgbClr val="FFB347"/>
                </a:solidFill>
                <a:latin typeface="Consolas"/>
              </a:rPr>
              <a:t>COMMUNITY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3959352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6EAEF"/>
                </a:solidFill>
                <a:latin typeface="Segoe UI"/>
              </a:rPr>
              <a:t>Peer-discussed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475488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A95A5"/>
                </a:solidFill>
                <a:latin typeface="Segoe UI"/>
              </a:rPr>
              <a:t>Survived open thread review.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79992" y="3246120"/>
            <a:ext cx="2697480" cy="2606040"/>
          </a:xfrm>
          <a:prstGeom prst="rect">
            <a:avLst/>
          </a:prstGeom>
          <a:solidFill>
            <a:srgbClr val="12171F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45752" y="3703320"/>
            <a:ext cx="411480" cy="411480"/>
          </a:xfrm>
          <a:prstGeom prst="rect">
            <a:avLst/>
          </a:prstGeom>
          <a:solidFill>
            <a:srgbClr val="FF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45752" y="3666744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B0E12"/>
                </a:solidFill>
                <a:latin typeface="Segoe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94392" y="365760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00">
                <a:solidFill>
                  <a:srgbClr val="FF6EC7"/>
                </a:solidFill>
                <a:latin typeface="Consolas"/>
              </a:rPr>
              <a:t>REPUTATION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4392" y="3959352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6EAEF"/>
                </a:solidFill>
                <a:latin typeface="Segoe UI"/>
              </a:rPr>
              <a:t>Author-attributed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54312" y="475488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A95A5"/>
                </a:solidFill>
                <a:latin typeface="Segoe UI"/>
              </a:rPr>
              <a:t>The mathematician who shaped the agent owns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00">
                <a:solidFill>
                  <a:srgbClr val="00E5FF"/>
                </a:solidFill>
                <a:latin typeface="Consolas"/>
              </a:rPr>
              <a:t>// 09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100">
                <a:solidFill>
                  <a:srgbClr val="8A95A5"/>
                </a:solidFill>
                <a:latin typeface="Consolas"/>
              </a:rPr>
              <a:t>10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00800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200">
                <a:solidFill>
                  <a:srgbClr val="8A95A5"/>
                </a:solidFill>
                <a:latin typeface="Consolas"/>
              </a:rPr>
              <a:t>MATHAI · CONFIDENTIAL DRAFT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100">
                <a:solidFill>
                  <a:srgbClr val="8A95A5"/>
                </a:solidFill>
                <a:latin typeface="Consolas"/>
              </a:rPr>
              <a:t>// vision deck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822960"/>
            <a:ext cx="38100" cy="29260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804672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00E5FF"/>
                </a:solidFill>
                <a:latin typeface="Consolas"/>
              </a:rPr>
              <a:t>WHY THEY WILL ADOPT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6EAEF"/>
                </a:solidFill>
                <a:latin typeface="Segoe UI"/>
              </a:rPr>
              <a:t>Built for how mathematicians actually 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334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300">
                <a:solidFill>
                  <a:srgbClr val="00E5FF"/>
                </a:solidFill>
                <a:latin typeface="Consolas"/>
              </a:rPr>
              <a:t>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633472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6EAEF"/>
                </a:solidFill>
                <a:latin typeface="Segoe UI"/>
              </a:rPr>
              <a:t>Mechanical verification. No flashy claims. No marketing-grade math.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82112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4670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300">
                <a:solidFill>
                  <a:srgbClr val="00E5FF"/>
                </a:solidFill>
                <a:latin typeface="Consolas"/>
              </a:rPr>
              <a:t>ATTRIBUTION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46704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6EAEF"/>
                </a:solidFill>
                <a:latin typeface="Segoe UI"/>
              </a:rPr>
              <a:t>Their name on their results — by default, permanently, citably.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95344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5993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300">
                <a:solidFill>
                  <a:srgbClr val="00E5FF"/>
                </a:solidFill>
                <a:latin typeface="Consolas"/>
              </a:rPr>
              <a:t>PERSISTENCE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059936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6EAEF"/>
                </a:solidFill>
                <a:latin typeface="Segoe UI"/>
              </a:rPr>
              <a:t>An agent that remembers, accumulates, and resumes. No more sandcastles.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08576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77316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300">
                <a:solidFill>
                  <a:srgbClr val="00E5FF"/>
                </a:solidFill>
                <a:latin typeface="Consolas"/>
              </a:rPr>
              <a:t>AGENCY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773168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6EAEF"/>
                </a:solidFill>
                <a:latin typeface="Segoe UI"/>
              </a:rPr>
              <a:t>Their agent, their tools, their prompts. Workflow, not chatbot.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21808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864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300">
                <a:solidFill>
                  <a:srgbClr val="00E5FF"/>
                </a:solidFill>
                <a:latin typeface="Consolas"/>
              </a:rPr>
              <a:t>AESTHETICS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548640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6EAEF"/>
                </a:solidFill>
                <a:latin typeface="Segoe UI"/>
              </a:rPr>
              <a:t>A platform that looks and feels like it was built by people who do math.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00">
                <a:solidFill>
                  <a:srgbClr val="00E5FF"/>
                </a:solidFill>
                <a:latin typeface="Consolas"/>
              </a:rPr>
              <a:t>// 10 HORIZON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100">
                <a:solidFill>
                  <a:srgbClr val="8A95A5"/>
                </a:solidFill>
                <a:latin typeface="Consolas"/>
              </a:rPr>
              <a:t>11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00800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200">
                <a:solidFill>
                  <a:srgbClr val="8A95A5"/>
                </a:solidFill>
                <a:latin typeface="Consolas"/>
              </a:rPr>
              <a:t>MATHAI · CONFIDENTIAL DRAFT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100">
                <a:solidFill>
                  <a:srgbClr val="8A95A5"/>
                </a:solidFill>
                <a:latin typeface="Consolas"/>
              </a:rPr>
              <a:t>// vision deck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822960"/>
            <a:ext cx="38100" cy="29260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804672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00E5FF"/>
                </a:solidFill>
                <a:latin typeface="Consolas"/>
              </a:rPr>
              <a:t>HORIZON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E6EAEF"/>
                </a:solidFill>
                <a:latin typeface="Segoe UI"/>
              </a:rPr>
              <a:t>Math is the wedge.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8A95A5"/>
                </a:solidFill>
                <a:latin typeface="Segoe UI"/>
              </a:rPr>
              <a:t>The architecture is universal.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2697480" cy="2194560"/>
          </a:xfrm>
          <a:prstGeom prst="rect">
            <a:avLst/>
          </a:prstGeom>
          <a:solidFill>
            <a:srgbClr val="12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657600"/>
            <a:ext cx="2697480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233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00">
                <a:solidFill>
                  <a:srgbClr val="00E5FF"/>
                </a:solidFill>
                <a:latin typeface="Consola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100">
                <a:solidFill>
                  <a:srgbClr val="E6EAEF"/>
                </a:solidFill>
                <a:latin typeface="Segoe UI"/>
              </a:rPr>
              <a:t>MATHEMATICS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2920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100">
                <a:solidFill>
                  <a:srgbClr val="00E5FF"/>
                </a:solidFill>
                <a:latin typeface="Consolas"/>
              </a:rPr>
              <a:t>the wedge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92424" y="3657600"/>
            <a:ext cx="2697480" cy="2194560"/>
          </a:xfrm>
          <a:prstGeom prst="rect">
            <a:avLst/>
          </a:prstGeom>
          <a:solidFill>
            <a:srgbClr val="0B0E12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66744" y="40233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00">
                <a:solidFill>
                  <a:srgbClr val="FFB347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6744" y="434340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100">
                <a:solidFill>
                  <a:srgbClr val="E6EAEF"/>
                </a:solidFill>
                <a:latin typeface="Segoe UI"/>
              </a:rPr>
              <a:t>PHYSICS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6744" y="502920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100">
                <a:solidFill>
                  <a:srgbClr val="FFB347"/>
                </a:solidFill>
                <a:latin typeface="Consolas"/>
              </a:rPr>
              <a:t>next neighbor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3657600"/>
            <a:ext cx="2697480" cy="2194560"/>
          </a:xfrm>
          <a:prstGeom prst="rect">
            <a:avLst/>
          </a:prstGeom>
          <a:solidFill>
            <a:srgbClr val="0B0E12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40233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00">
                <a:solidFill>
                  <a:srgbClr val="FFB347"/>
                </a:solidFill>
                <a:latin typeface="Consola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34340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100">
                <a:solidFill>
                  <a:srgbClr val="E6EAEF"/>
                </a:solidFill>
                <a:latin typeface="Segoe UI"/>
              </a:rPr>
              <a:t>CHEMISTRY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502920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100">
                <a:solidFill>
                  <a:srgbClr val="FFB347"/>
                </a:solidFill>
                <a:latin typeface="Consolas"/>
              </a:rPr>
              <a:t>right pattern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79992" y="3657600"/>
            <a:ext cx="2697480" cy="2194560"/>
          </a:xfrm>
          <a:prstGeom prst="rect">
            <a:avLst/>
          </a:prstGeom>
          <a:solidFill>
            <a:srgbClr val="0B0E12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54312" y="40233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00">
                <a:solidFill>
                  <a:srgbClr val="8A95A5"/>
                </a:solidFill>
                <a:latin typeface="Consola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54312" y="434340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100">
                <a:solidFill>
                  <a:srgbClr val="E6EAEF"/>
                </a:solidFill>
                <a:latin typeface="Segoe UI"/>
              </a:rPr>
              <a:t>ANY DOMAIN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2" y="502920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100">
                <a:solidFill>
                  <a:srgbClr val="8A95A5"/>
                </a:solidFill>
                <a:latin typeface="Consolas"/>
              </a:rPr>
              <a:t>where reasoning produces 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00">
                <a:solidFill>
                  <a:srgbClr val="00E5FF"/>
                </a:solidFill>
                <a:latin typeface="Consolas"/>
              </a:rPr>
              <a:t>// 11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100">
                <a:solidFill>
                  <a:srgbClr val="8A95A5"/>
                </a:solidFill>
                <a:latin typeface="Consolas"/>
              </a:rPr>
              <a:t>12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00800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200">
                <a:solidFill>
                  <a:srgbClr val="8A95A5"/>
                </a:solidFill>
                <a:latin typeface="Consolas"/>
              </a:rPr>
              <a:t>MATHAI · CONFIDENTIAL DRAFT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100">
                <a:solidFill>
                  <a:srgbClr val="8A95A5"/>
                </a:solidFill>
                <a:latin typeface="Consolas"/>
              </a:rPr>
              <a:t>// vision deck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822960"/>
            <a:ext cx="38100" cy="29260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804672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00E5FF"/>
                </a:solidFill>
                <a:latin typeface="Consolas"/>
              </a:rPr>
              <a:t>CULTURE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6EAEF"/>
                </a:solidFill>
                <a:latin typeface="Segoe UI"/>
              </a:rPr>
              <a:t>By mathematicians, for mathematicians.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76200" cy="2286000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97480"/>
            <a:ext cx="100584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E6EAEF"/>
                </a:solidFill>
                <a:latin typeface="Segoe UI"/>
              </a:rPr>
              <a:t>“Mathematicians pay dearly</a:t>
            </a:r>
          </a:p>
          <a:p>
            <a:pPr algn="l"/>
            <a:r>
              <a:rPr sz="3400" b="1">
                <a:solidFill>
                  <a:srgbClr val="E6EAEF"/>
                </a:solidFill>
                <a:latin typeface="Segoe UI"/>
              </a:rPr>
              <a:t>for instruments they trust</a:t>
            </a:r>
          </a:p>
          <a:p>
            <a:pPr algn="l"/>
            <a:r>
              <a:rPr sz="3400" b="1">
                <a:solidFill>
                  <a:srgbClr val="E6EAEF"/>
                </a:solidFill>
                <a:latin typeface="Segoe UI"/>
              </a:rPr>
              <a:t>and ignore everything else.”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FFB347"/>
                </a:solidFill>
                <a:latin typeface="Consolas"/>
              </a:rPr>
              <a:t>// founding principle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00">
                <a:solidFill>
                  <a:srgbClr val="00E5FF"/>
                </a:solidFill>
                <a:latin typeface="Consolas"/>
              </a:rPr>
              <a:t>// 12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100">
                <a:solidFill>
                  <a:srgbClr val="8A95A5"/>
                </a:solidFill>
                <a:latin typeface="Consolas"/>
              </a:rPr>
              <a:t>13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00800"/>
            <a:ext cx="11091672" cy="9525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200">
                <a:solidFill>
                  <a:srgbClr val="8A95A5"/>
                </a:solidFill>
                <a:latin typeface="Consolas"/>
              </a:rPr>
              <a:t>MATHAI · CONFIDENTIAL DRAFT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100">
                <a:solidFill>
                  <a:srgbClr val="8A95A5"/>
                </a:solidFill>
                <a:latin typeface="Consolas"/>
              </a:rPr>
              <a:t>// vision deck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76200" cy="219456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spc="600">
                <a:solidFill>
                  <a:srgbClr val="00E5FF"/>
                </a:solidFill>
                <a:latin typeface="Consolas"/>
              </a:rPr>
              <a:t>MATHAI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974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E6EAEF"/>
                </a:solidFill>
                <a:latin typeface="Segoe UI"/>
              </a:rPr>
              <a:t>We are building it now.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062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A95A5"/>
                </a:solidFill>
                <a:latin typeface="Segoe UI"/>
              </a:rPr>
              <a:t>The map of mathematics, machine-verified, attributed to its makers,</a:t>
            </a:r>
          </a:p>
          <a:p>
            <a:pPr algn="l"/>
            <a:r>
              <a:rPr sz="2000" b="0">
                <a:solidFill>
                  <a:srgbClr val="8A95A5"/>
                </a:solidFill>
                <a:latin typeface="Segoe UI"/>
              </a:rPr>
              <a:t>free to the world. Built by the people who actually do the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86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200">
                <a:solidFill>
                  <a:srgbClr val="FFB347"/>
                </a:solidFill>
                <a:latin typeface="Consolas"/>
              </a:rPr>
              <a:t>Anton Shakov  ·  Christian Kudeba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